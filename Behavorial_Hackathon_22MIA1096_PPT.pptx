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45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200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21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85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198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09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6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24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395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73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161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5733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153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136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35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4321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10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A9CD433-6296-4DEA-A0B4-386AFA075B3A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99062-8C70-44D3-9F3F-F08AD0325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4333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4661-D45A-859B-8714-60EA706258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/>
              <a:t>Early Detection of Fake Engagement in Social Media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D9E4E-3F6E-CEE3-952D-4B93006B91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22MIA1096 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AVANTIKA Kumarasamy </a:t>
            </a:r>
          </a:p>
        </p:txBody>
      </p:sp>
    </p:spTree>
    <p:extLst>
      <p:ext uri="{BB962C8B-B14F-4D97-AF65-F5344CB8AC3E}">
        <p14:creationId xmlns:p14="http://schemas.microsoft.com/office/powerpoint/2010/main" val="62597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4C51D-5117-EEEC-603C-E5961443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7FFB1-DF2D-F85C-8BA5-3EF0ABC01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 Issue:</a:t>
            </a:r>
            <a:r>
              <a:rPr lang="en-US" dirty="0"/>
              <a:t> Social media platforms suffer from artificial engagement generated by bots and coordinated "swarms," which distorts genuine user behavior and platform metrics.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The Goal:</a:t>
            </a:r>
            <a:r>
              <a:rPr lang="en-US" dirty="0"/>
              <a:t> Build a behavioral detection model to differentiate organic from artificial activity and provide an "Authenticity Score" for transparency.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1046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5F76-C1CA-8DB5-92EA-82ACB29AC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&amp;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3D0E6-9898-6F34-4202-29314CD02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722234"/>
          </a:xfrm>
        </p:spPr>
        <p:txBody>
          <a:bodyPr/>
          <a:lstStyle/>
          <a:p>
            <a:r>
              <a:rPr lang="en-US" b="1" dirty="0"/>
              <a:t>Dataset Type:</a:t>
            </a:r>
            <a:r>
              <a:rPr lang="en-US" dirty="0"/>
              <a:t> Synthetic behavioral data (5,000 records) generated to model specific human vs. bot patterns.</a:t>
            </a:r>
          </a:p>
          <a:p>
            <a:r>
              <a:rPr lang="en-IN" dirty="0"/>
              <a:t>Key </a:t>
            </a:r>
            <a:r>
              <a:rPr lang="en-IN" dirty="0" err="1"/>
              <a:t>Behavioral</a:t>
            </a:r>
            <a:r>
              <a:rPr lang="en-IN" dirty="0"/>
              <a:t> Indicators:</a:t>
            </a:r>
          </a:p>
          <a:p>
            <a:pPr marL="0" indent="0">
              <a:buNone/>
            </a:pPr>
            <a:r>
              <a:rPr lang="en-US" b="1" dirty="0"/>
              <a:t>Timing Regularity:</a:t>
            </a:r>
            <a:r>
              <a:rPr lang="en-US" dirty="0"/>
              <a:t> Measure of consistency in posting intervals.</a:t>
            </a:r>
          </a:p>
          <a:p>
            <a:pPr marL="0" indent="0">
              <a:buNone/>
            </a:pPr>
            <a:r>
              <a:rPr lang="en-US" b="1" dirty="0"/>
              <a:t>Engagement Burst Patterns:</a:t>
            </a:r>
            <a:r>
              <a:rPr lang="en-US" dirty="0"/>
              <a:t> Frequency spikes over short durations.</a:t>
            </a:r>
          </a:p>
          <a:p>
            <a:pPr marL="0" indent="0">
              <a:buNone/>
            </a:pPr>
            <a:r>
              <a:rPr lang="en-US" b="1" dirty="0"/>
              <a:t>Network Coordination:</a:t>
            </a:r>
            <a:r>
              <a:rPr lang="en-US" dirty="0"/>
              <a:t> Degree of synchronized activity with other accounts.</a:t>
            </a:r>
          </a:p>
          <a:p>
            <a:pPr marL="0" indent="0">
              <a:buNone/>
            </a:pPr>
            <a:r>
              <a:rPr lang="en-US" b="1" dirty="0"/>
              <a:t>Linguistic Entropy:</a:t>
            </a:r>
            <a:r>
              <a:rPr lang="en-US" dirty="0"/>
              <a:t> Diversity of language used; bots typically have low entropy (high consistency).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7490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26C34-DF36-DAAA-02BA-324B2026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B0829-526A-8291-21FD-AA5079081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Algorithm:</a:t>
            </a:r>
            <a:r>
              <a:rPr lang="en-US" dirty="0"/>
              <a:t> Random Forest Classifier (chosen for high explainability and performance).</a:t>
            </a:r>
          </a:p>
          <a:p>
            <a:r>
              <a:rPr lang="en-US" b="1" dirty="0"/>
              <a:t>Objective:</a:t>
            </a:r>
            <a:r>
              <a:rPr lang="en-US" dirty="0"/>
              <a:t> Binary classification (Organic vs. Artificial) with probability outputs.</a:t>
            </a:r>
          </a:p>
          <a:p>
            <a:r>
              <a:rPr lang="en-US" b="1" dirty="0"/>
              <a:t>Key Outputs:</a:t>
            </a:r>
            <a:r>
              <a:rPr lang="en-US" dirty="0"/>
              <a:t> * </a:t>
            </a:r>
            <a:r>
              <a:rPr lang="en-US" b="1" dirty="0"/>
              <a:t>Authenticity Score (0-100):</a:t>
            </a:r>
            <a:r>
              <a:rPr lang="en-US" dirty="0"/>
              <a:t> Where 100 is perfectly organic.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Bot Probability:</a:t>
            </a:r>
            <a:r>
              <a:rPr lang="en-US" dirty="0"/>
              <a:t> Likelihood of the account being automated.</a:t>
            </a:r>
          </a:p>
          <a:p>
            <a:pPr marL="0" indent="0">
              <a:buNone/>
            </a:pPr>
            <a:r>
              <a:rPr lang="en-US" b="1" dirty="0"/>
              <a:t>Behavioral Anomaly Explanation:</a:t>
            </a:r>
            <a:r>
              <a:rPr lang="en-US" dirty="0"/>
              <a:t> Automated natural language explanation of </a:t>
            </a:r>
            <a:r>
              <a:rPr lang="en-US" i="1" dirty="0"/>
              <a:t>why</a:t>
            </a:r>
            <a:r>
              <a:rPr lang="en-US" dirty="0"/>
              <a:t> an account was flagged (e.g., "High burst pattern detected").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604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4C37-F718-3F45-040D-FF33BD71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55A2A-EE7F-66E5-ED14-88A4F2684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25" y="1331259"/>
            <a:ext cx="4775849" cy="5278196"/>
          </a:xfrm>
        </p:spPr>
        <p:txBody>
          <a:bodyPr>
            <a:normAutofit/>
          </a:bodyPr>
          <a:lstStyle/>
          <a:p>
            <a:r>
              <a:rPr lang="en-US" b="1" dirty="0"/>
              <a:t>Data Simulation:</a:t>
            </a:r>
            <a:r>
              <a:rPr lang="en-US" dirty="0"/>
              <a:t> Modeling human and bot distributions.</a:t>
            </a:r>
          </a:p>
          <a:p>
            <a:r>
              <a:rPr lang="en-US" b="1" dirty="0"/>
              <a:t>Feature Engineering:</a:t>
            </a:r>
            <a:r>
              <a:rPr lang="en-US" dirty="0"/>
              <a:t> Calculating regularity, entropy, and coordination indices.</a:t>
            </a:r>
          </a:p>
          <a:p>
            <a:r>
              <a:rPr lang="en-US" b="1" dirty="0"/>
              <a:t>Model Training:</a:t>
            </a:r>
            <a:r>
              <a:rPr lang="en-US" dirty="0"/>
              <a:t> Utilizing a Random Forest to learn behavioral decision boundaries.</a:t>
            </a:r>
          </a:p>
          <a:p>
            <a:r>
              <a:rPr lang="en-US" b="1" dirty="0"/>
              <a:t>Analytics Layer:</a:t>
            </a:r>
            <a:r>
              <a:rPr lang="en-US" dirty="0"/>
              <a:t> Generating scores and explaining primary triggers.</a:t>
            </a:r>
          </a:p>
          <a:p>
            <a:r>
              <a:rPr lang="en-US" b="1" dirty="0"/>
              <a:t>Visualization Dashboard:</a:t>
            </a:r>
            <a:r>
              <a:rPr lang="en-US" dirty="0"/>
              <a:t> Real-time reporting of behavioral anomalies.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0F72E4-1913-0027-E69E-206811CA1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139" y="1196698"/>
            <a:ext cx="5497913" cy="541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1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1B488-8399-9C50-B9D1-E62E2EEAC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929C-BE23-F6B7-A3B9-720368314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Overall Performance:</a:t>
            </a:r>
            <a:r>
              <a:rPr lang="en-US" dirty="0"/>
              <a:t> The model achieved </a:t>
            </a:r>
            <a:r>
              <a:rPr lang="en-US" b="1" dirty="0"/>
              <a:t>100% Accuracy, Precision, Recall, and F1-Score</a:t>
            </a:r>
            <a:r>
              <a:rPr lang="en-US" dirty="0"/>
              <a:t> on the test dataset.</a:t>
            </a:r>
          </a:p>
          <a:p>
            <a:r>
              <a:rPr lang="en-US" b="1" dirty="0"/>
              <a:t>Detection Success:</a:t>
            </a:r>
            <a:r>
              <a:rPr lang="en-US" dirty="0"/>
              <a:t> * </a:t>
            </a:r>
            <a:r>
              <a:rPr lang="en-US" b="1" dirty="0"/>
              <a:t>Humans:</a:t>
            </a:r>
            <a:r>
              <a:rPr lang="en-US" dirty="0"/>
              <a:t> 695/695 correctly identified.</a:t>
            </a:r>
          </a:p>
          <a:p>
            <a:pPr marL="0" indent="0">
              <a:buNone/>
            </a:pPr>
            <a:r>
              <a:rPr lang="en-IN" b="1" dirty="0"/>
              <a:t>		Bots:</a:t>
            </a:r>
            <a:r>
              <a:rPr lang="en-IN" dirty="0"/>
              <a:t> 305/305 correctly identified.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Explainability:</a:t>
            </a:r>
            <a:r>
              <a:rPr lang="en-US" dirty="0"/>
              <a:t> 100% of bot detections were paired with a specific behavioral explanation.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1340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5E467-2440-B1B4-88CD-F6D8B512B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Behavioural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0AC2F-9042-F3DC-9C45-45D327C72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Primary Bot Triggers:</a:t>
            </a:r>
            <a:r>
              <a:rPr lang="en-US" dirty="0"/>
              <a:t> Timing Regularity and Burst Patterns were the most important features in detecting fake engagement.</a:t>
            </a:r>
          </a:p>
          <a:p>
            <a:r>
              <a:rPr lang="en-US" b="1" dirty="0"/>
              <a:t>Anomaly Clusters:</a:t>
            </a:r>
            <a:r>
              <a:rPr lang="en-US" dirty="0"/>
              <a:t> Visualization shows clear separation; bots cluster in the high-regularity, high-burst zone, while humans remain scattered in a low-regularity zone.</a:t>
            </a:r>
          </a:p>
          <a:p>
            <a:r>
              <a:rPr lang="en-US" b="1" dirty="0"/>
              <a:t>Feature Correlations:</a:t>
            </a:r>
            <a:r>
              <a:rPr lang="en-US" dirty="0"/>
              <a:t> High positive correlation exists between timing regularity and network coordination, suggesting bots often synchronize their "internal clocks".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05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09E85-D792-F852-EFE4-1FF2FDAD2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C88DF-8B1B-18CB-3857-10697B46C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Platform Integrity:</a:t>
            </a:r>
            <a:r>
              <a:rPr lang="en-US" dirty="0"/>
              <a:t> Automates the removal of coordinated bot swarms before they can trend.</a:t>
            </a:r>
          </a:p>
          <a:p>
            <a:r>
              <a:rPr lang="en-US" b="1" dirty="0"/>
              <a:t>User Transparency:</a:t>
            </a:r>
            <a:r>
              <a:rPr lang="en-US" dirty="0"/>
              <a:t> The "Authenticity Score" allows users to verify if the engagement they see on a post is genuine.</a:t>
            </a:r>
          </a:p>
          <a:p>
            <a:r>
              <a:rPr lang="en-US" b="1" dirty="0"/>
              <a:t>Reduced Manual Review:</a:t>
            </a:r>
            <a:r>
              <a:rPr lang="en-US" dirty="0"/>
              <a:t> Explanations (e.g., "High network coordination") help moderators verify flagged accounts 5x faster.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7117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4B27A-652E-2C8B-F6CF-114E77B4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561A0-CC08-F2A7-38FD-3597B46F0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Real-time Analysis:</a:t>
            </a:r>
            <a:r>
              <a:rPr lang="en-US" dirty="0"/>
              <a:t> Deploying the model to scan live streaming engagement data.</a:t>
            </a:r>
          </a:p>
          <a:p>
            <a:r>
              <a:rPr lang="en-US" b="1" dirty="0"/>
              <a:t>Graph-based Expansion:</a:t>
            </a:r>
            <a:r>
              <a:rPr lang="en-US" dirty="0"/>
              <a:t> Incorporating social graph features to detect more sophisticated, "low-and-slow" bot networks.</a:t>
            </a:r>
          </a:p>
          <a:p>
            <a:r>
              <a:rPr lang="en-US" b="1" dirty="0"/>
              <a:t>Multilingual Adaptation:</a:t>
            </a:r>
            <a:r>
              <a:rPr lang="en-US" dirty="0"/>
              <a:t> Enhancing linguistic entropy models for cross-language consistency detection.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87119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506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Ion</vt:lpstr>
      <vt:lpstr>Early Detection of Fake Engagement in Social Media</vt:lpstr>
      <vt:lpstr>Problem Statement</vt:lpstr>
      <vt:lpstr>Data &amp; Features</vt:lpstr>
      <vt:lpstr>Model Overview</vt:lpstr>
      <vt:lpstr> Architecture</vt:lpstr>
      <vt:lpstr>Results</vt:lpstr>
      <vt:lpstr>Behavioural Insights</vt:lpstr>
      <vt:lpstr>Practical Impact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Avantika Kumarasamy</dc:creator>
  <cp:lastModifiedBy>Avantika Kumarasamy</cp:lastModifiedBy>
  <cp:revision>1</cp:revision>
  <dcterms:created xsi:type="dcterms:W3CDTF">2026-03-01T16:56:32Z</dcterms:created>
  <dcterms:modified xsi:type="dcterms:W3CDTF">2026-03-01T17:06:11Z</dcterms:modified>
</cp:coreProperties>
</file>